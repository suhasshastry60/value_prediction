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C1FFB-39FC-43F9-D335-E1D34F31E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4B5B5-7CBD-3712-0C1B-691CA664C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66F60-1DEE-6DEF-7699-A0E5A1A0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CDD53-D2DF-929F-AC33-0166117C0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D8427-70AC-8255-FCB7-749FCFBF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66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4E2E-15A7-F4AC-D1B0-0BA80D66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61F55-FF78-2DD5-A34B-CD25E5F6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4E2BF-2863-DF72-1925-5D979423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51C6A-2F1D-40E7-9C9F-50475CAC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25598-1D72-0F4D-A098-99ADC6F5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386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9B36-8D44-7303-05D4-AF289A772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240CB-9CBE-EE70-97DF-665473368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9FB60-6153-9CB0-1972-4C20FF21E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ABADA-BF39-8FCE-1A02-4C1B49564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81A1-8AA8-D711-EBDA-395493E2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37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56BD-F29F-6ED6-7F78-9009088F0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DE2F7-67F0-BE5C-545F-E55E82E7B0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885D2-0D94-6935-C04D-21F645611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ABC9B-83D5-2767-E360-32D14FA75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06D82-97E6-AC39-DF1C-81519C22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EFF38-F62D-C848-C1C5-12A1D95D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3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3471F-9ADB-5F51-C97F-F197E56DA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3800B-AD57-D9EC-D169-7BE6FBC75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61D78-7931-310E-F77D-8ED9C6EA0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6070BC-BAD4-9A10-8C6C-DE1B02174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D87D62-39D5-B8FD-953F-A7CA1A4DD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0C0AD-CEB8-1A7C-957C-ABAA18EC0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A35AB-C474-3E65-47EA-AFA0C523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34DC91-4BE7-0999-1A9C-0C3ADF46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97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03CC-21CA-D65E-C1D7-4CE5A303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F7686F-0FEC-AED1-D6F2-2EFD20B5A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A8A3C-C06B-CABA-9131-4C85E8648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40220-A2C5-979C-F977-38014ACA4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72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B2B983-4F66-572F-E620-C391962E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DC5B1-0AEA-1561-FD18-3B2E5CBA1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E0731-5E03-9311-BF78-F46828A3D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09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88FE-5C4B-A30F-E3A5-5182BB4DD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16579-3F36-DCB6-50C3-640AE261D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CAF5B-ED5E-B0E8-D9C6-A05EF8C01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F8D10B-CEA3-7EDB-8E8E-F454110B9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96C58-6E3D-521E-3F70-BB6AAE0C0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CD103-5E71-59FA-FE68-962208B9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5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429A-F016-7FEA-EF82-C8320551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446FD-E049-3BC4-74C6-1BD8580D6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99BCF8-AD3B-9964-5317-1DAA2A2B93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E2A59-FA94-9875-C137-E11BEFE8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B8BDBF-3B86-1EEF-B370-92BC97B6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33BAF-C621-21D6-D72C-B0028B6BF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9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C7BE-EFB7-051C-A3AA-38183EF51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63B58-82D2-756A-B1F7-605F01E04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E403F-68A1-4140-8169-B7750B7C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1761F-6430-B9F8-4886-DCDE32A4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4C268-3178-908E-E946-974866B23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14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AC9B-F1BF-CC32-703C-003FB994E5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97525-FD23-28DD-3ED7-1E26024F0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BF504-B36B-85C4-D0B4-8F9EDE68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B4A0B-6935-E2F0-4CB4-354A8CF63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3B69A-D586-EFEA-4906-B3B43A0B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28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DDED2-8EFB-8B6B-2149-4BB1B6C5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C5CD8-646F-58F3-8F89-38A862A70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7ED4D-0040-F265-687F-727DE1A7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B35914-A61D-43D0-8DE7-C23E1937EBC4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4666B-D8F3-4F07-342B-FE38F07F7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E22CC-DEC3-F5D2-79D9-EBA0F1584B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25F2D-449F-46A2-80F9-34F4040B7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8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891A7-43CD-15B2-E021-380E53591E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ECE 721</a:t>
            </a:r>
            <a:br>
              <a:rPr lang="en-US" dirty="0"/>
            </a:br>
            <a:r>
              <a:rPr lang="en-US" dirty="0"/>
              <a:t>Project 4 figures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272A5E-99CE-01BC-A033-3FD63B131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Eric Rotenberg</a:t>
            </a:r>
          </a:p>
        </p:txBody>
      </p:sp>
    </p:spTree>
    <p:extLst>
      <p:ext uri="{BB962C8B-B14F-4D97-AF65-F5344CB8AC3E}">
        <p14:creationId xmlns:p14="http://schemas.microsoft.com/office/powerpoint/2010/main" val="3074628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52BBCB-54F3-5409-C618-40DCD92F2C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48412"/>
              </p:ext>
            </p:extLst>
          </p:nvPr>
        </p:nvGraphicFramePr>
        <p:xfrm>
          <a:off x="1426311" y="768403"/>
          <a:ext cx="412087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7154">
                  <a:extLst>
                    <a:ext uri="{9D8B030D-6E8A-4147-A177-3AD203B41FA5}">
                      <a16:colId xmlns:a16="http://schemas.microsoft.com/office/drawing/2014/main" val="1794279826"/>
                    </a:ext>
                  </a:extLst>
                </a:gridCol>
                <a:gridCol w="537154">
                  <a:extLst>
                    <a:ext uri="{9D8B030D-6E8A-4147-A177-3AD203B41FA5}">
                      <a16:colId xmlns:a16="http://schemas.microsoft.com/office/drawing/2014/main" val="3822701588"/>
                    </a:ext>
                  </a:extLst>
                </a:gridCol>
                <a:gridCol w="1318719">
                  <a:extLst>
                    <a:ext uri="{9D8B030D-6E8A-4147-A177-3AD203B41FA5}">
                      <a16:colId xmlns:a16="http://schemas.microsoft.com/office/drawing/2014/main" val="968682882"/>
                    </a:ext>
                  </a:extLst>
                </a:gridCol>
                <a:gridCol w="687122">
                  <a:extLst>
                    <a:ext uri="{9D8B030D-6E8A-4147-A177-3AD203B41FA5}">
                      <a16:colId xmlns:a16="http://schemas.microsoft.com/office/drawing/2014/main" val="2589955914"/>
                    </a:ext>
                  </a:extLst>
                </a:gridCol>
                <a:gridCol w="1040721">
                  <a:extLst>
                    <a:ext uri="{9D8B030D-6E8A-4147-A177-3AD203B41FA5}">
                      <a16:colId xmlns:a16="http://schemas.microsoft.com/office/drawing/2014/main" val="2744835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conf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retired_value</a:t>
                      </a:r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stride</a:t>
                      </a:r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instance</a:t>
                      </a:r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91437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1866191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2573316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69045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/>
                </a:tc>
                <a:extLst>
                  <a:ext uri="{0D108BD9-81ED-4DB2-BD59-A6C34878D82A}">
                    <a16:rowId xmlns:a16="http://schemas.microsoft.com/office/drawing/2014/main" val="57648751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4B354F-F3A2-AA7B-6D83-5878923A05DE}"/>
              </a:ext>
            </a:extLst>
          </p:cNvPr>
          <p:cNvSpPr txBox="1"/>
          <p:nvPr/>
        </p:nvSpPr>
        <p:spPr>
          <a:xfrm>
            <a:off x="2101014" y="361532"/>
            <a:ext cx="2771464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Stride Value Predictor (SVP)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36DE02-7955-A8B3-F652-4322BE7CD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192780"/>
              </p:ext>
            </p:extLst>
          </p:nvPr>
        </p:nvGraphicFramePr>
        <p:xfrm>
          <a:off x="4360985" y="4428337"/>
          <a:ext cx="7733358" cy="74168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812438">
                  <a:extLst>
                    <a:ext uri="{9D8B030D-6E8A-4147-A177-3AD203B41FA5}">
                      <a16:colId xmlns:a16="http://schemas.microsoft.com/office/drawing/2014/main" val="718025190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2508493957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4061567388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3724301019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466867185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217229978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3370418472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2075869199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2030797319"/>
                    </a:ext>
                  </a:extLst>
                </a:gridCol>
                <a:gridCol w="657880">
                  <a:extLst>
                    <a:ext uri="{9D8B030D-6E8A-4147-A177-3AD203B41FA5}">
                      <a16:colId xmlns:a16="http://schemas.microsoft.com/office/drawing/2014/main" val="25022715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PC</a:t>
                      </a:r>
                      <a:r>
                        <a:rPr lang="en-US" baseline="-25000" dirty="0" err="1"/>
                        <a:t>tag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PC</a:t>
                      </a:r>
                      <a:r>
                        <a:rPr lang="en-US" baseline="-25000" dirty="0" err="1"/>
                        <a:t>index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034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86510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37F2D19-1649-DB89-DC65-BB8620FC0CDA}"/>
              </a:ext>
            </a:extLst>
          </p:cNvPr>
          <p:cNvSpPr txBox="1"/>
          <p:nvPr/>
        </p:nvSpPr>
        <p:spPr>
          <a:xfrm>
            <a:off x="5970755" y="544740"/>
            <a:ext cx="32164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Instance: speculatively incremented,</a:t>
            </a:r>
            <a:br>
              <a:rPr lang="en-US" sz="1600" dirty="0"/>
            </a:br>
            <a:r>
              <a:rPr lang="en-US" sz="1600" dirty="0"/>
              <a:t>and repaired during recovery</a:t>
            </a:r>
            <a:br>
              <a:rPr lang="en-US" sz="1600" dirty="0"/>
            </a:br>
            <a:r>
              <a:rPr lang="en-US" sz="1600" dirty="0"/>
              <a:t>using backward walk of VPQ.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E646816-61EF-A4B0-6B06-06967F40E6CB}"/>
              </a:ext>
            </a:extLst>
          </p:cNvPr>
          <p:cNvSpPr/>
          <p:nvPr/>
        </p:nvSpPr>
        <p:spPr>
          <a:xfrm rot="16200000">
            <a:off x="2823556" y="1225508"/>
            <a:ext cx="252727" cy="30472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CD36DB-A7FB-2357-4AE0-7AF0BCE24629}"/>
              </a:ext>
            </a:extLst>
          </p:cNvPr>
          <p:cNvSpPr txBox="1"/>
          <p:nvPr/>
        </p:nvSpPr>
        <p:spPr>
          <a:xfrm>
            <a:off x="6986727" y="520380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22E6B-9719-D089-7249-BFE67EA935D9}"/>
              </a:ext>
            </a:extLst>
          </p:cNvPr>
          <p:cNvSpPr txBox="1"/>
          <p:nvPr/>
        </p:nvSpPr>
        <p:spPr>
          <a:xfrm>
            <a:off x="9632341" y="5203806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7DC754-81E2-CC18-7554-CCE9D0F98BE5}"/>
              </a:ext>
            </a:extLst>
          </p:cNvPr>
          <p:cNvSpPr txBox="1"/>
          <p:nvPr/>
        </p:nvSpPr>
        <p:spPr>
          <a:xfrm>
            <a:off x="3469777" y="2778351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or replace at retirement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AF641-2253-0415-047F-653E9CFD8C45}"/>
              </a:ext>
            </a:extLst>
          </p:cNvPr>
          <p:cNvSpPr txBox="1"/>
          <p:nvPr/>
        </p:nvSpPr>
        <p:spPr>
          <a:xfrm>
            <a:off x="0" y="1515915"/>
            <a:ext cx="764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PC</a:t>
            </a:r>
            <a:r>
              <a:rPr lang="en-US" baseline="-25000" dirty="0" err="1"/>
              <a:t>index</a:t>
            </a:r>
            <a:endParaRPr lang="en-US" baseline="-250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496400F-4A8A-F66F-7208-9705BEBFE4E8}"/>
              </a:ext>
            </a:extLst>
          </p:cNvPr>
          <p:cNvCxnSpPr>
            <a:stCxn id="16" idx="3"/>
            <a:endCxn id="4" idx="1"/>
          </p:cNvCxnSpPr>
          <p:nvPr/>
        </p:nvCxnSpPr>
        <p:spPr>
          <a:xfrm flipV="1">
            <a:off x="764248" y="1695503"/>
            <a:ext cx="662063" cy="5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FD903C4-34B7-CD9A-F940-7686DEE67AB4}"/>
              </a:ext>
            </a:extLst>
          </p:cNvPr>
          <p:cNvCxnSpPr>
            <a:cxnSpLocks/>
            <a:stCxn id="4" idx="3"/>
            <a:endCxn id="28" idx="1"/>
          </p:cNvCxnSpPr>
          <p:nvPr/>
        </p:nvCxnSpPr>
        <p:spPr>
          <a:xfrm>
            <a:off x="5547181" y="1695503"/>
            <a:ext cx="2433844" cy="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76A39C9-FDEC-D7E1-A7EE-95F8A59DD30E}"/>
              </a:ext>
            </a:extLst>
          </p:cNvPr>
          <p:cNvSpPr txBox="1"/>
          <p:nvPr/>
        </p:nvSpPr>
        <p:spPr>
          <a:xfrm>
            <a:off x="7981025" y="1511998"/>
            <a:ext cx="4008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prediction, confidence, VPQ entry # (tail)</a:t>
            </a: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BDDABA9D-CBFC-55EE-25AE-DC101CCC8E98}"/>
              </a:ext>
            </a:extLst>
          </p:cNvPr>
          <p:cNvCxnSpPr>
            <a:stCxn id="16" idx="2"/>
            <a:endCxn id="10" idx="2"/>
          </p:cNvCxnSpPr>
          <p:nvPr/>
        </p:nvCxnSpPr>
        <p:spPr>
          <a:xfrm rot="16200000" flipH="1">
            <a:off x="3237506" y="-970136"/>
            <a:ext cx="3687891" cy="9398655"/>
          </a:xfrm>
          <a:prstGeom prst="bentConnector3">
            <a:avLst>
              <a:gd name="adj1" fmla="val 1061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839EE2-F4AF-60AB-725B-CCC840804B4B}"/>
              </a:ext>
            </a:extLst>
          </p:cNvPr>
          <p:cNvSpPr txBox="1"/>
          <p:nvPr/>
        </p:nvSpPr>
        <p:spPr>
          <a:xfrm>
            <a:off x="8357748" y="5838853"/>
            <a:ext cx="2039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allocate and record </a:t>
            </a:r>
            <a:br>
              <a:rPr lang="en-US" dirty="0"/>
            </a:br>
            <a:r>
              <a:rPr lang="en-US" dirty="0" err="1"/>
              <a:t>PC</a:t>
            </a:r>
            <a:r>
              <a:rPr lang="en-US" baseline="-25000" dirty="0" err="1"/>
              <a:t>tag</a:t>
            </a:r>
            <a:r>
              <a:rPr lang="en-US" dirty="0"/>
              <a:t> and </a:t>
            </a:r>
            <a:r>
              <a:rPr lang="en-US" dirty="0" err="1"/>
              <a:t>PC</a:t>
            </a:r>
            <a:r>
              <a:rPr lang="en-US" baseline="-25000" dirty="0" err="1"/>
              <a:t>index</a:t>
            </a:r>
            <a:endParaRPr lang="en-US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09B61-F547-75D1-A006-BA58663CD228}"/>
              </a:ext>
            </a:extLst>
          </p:cNvPr>
          <p:cNvSpPr txBox="1"/>
          <p:nvPr/>
        </p:nvSpPr>
        <p:spPr>
          <a:xfrm>
            <a:off x="7718002" y="3801987"/>
            <a:ext cx="382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computed value from writeback (OOO)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424E39-9E55-EBE9-CCCC-5F6E05BCF14D}"/>
              </a:ext>
            </a:extLst>
          </p:cNvPr>
          <p:cNvCxnSpPr>
            <a:cxnSpLocks/>
          </p:cNvCxnSpPr>
          <p:nvPr/>
        </p:nvCxnSpPr>
        <p:spPr>
          <a:xfrm>
            <a:off x="8357748" y="4129548"/>
            <a:ext cx="12529" cy="872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3A53A27-7139-4A06-0FA2-C969F4C44577}"/>
              </a:ext>
            </a:extLst>
          </p:cNvPr>
          <p:cNvSpPr txBox="1"/>
          <p:nvPr/>
        </p:nvSpPr>
        <p:spPr>
          <a:xfrm>
            <a:off x="6392372" y="1824128"/>
            <a:ext cx="538666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prediction = </a:t>
            </a:r>
            <a:r>
              <a:rPr lang="en-US" sz="1400" i="1" u="sng" dirty="0" err="1"/>
              <a:t>retired_value</a:t>
            </a:r>
            <a:r>
              <a:rPr lang="en-US" sz="1400" i="1" dirty="0"/>
              <a:t> + </a:t>
            </a:r>
            <a:r>
              <a:rPr lang="en-US" sz="1400" i="1" u="sng" dirty="0"/>
              <a:t>instance</a:t>
            </a:r>
            <a:r>
              <a:rPr lang="en-US" sz="1400" i="1" dirty="0"/>
              <a:t>*</a:t>
            </a:r>
            <a:r>
              <a:rPr lang="en-US" sz="1400" i="1" u="sng" dirty="0"/>
              <a:t>stride</a:t>
            </a:r>
          </a:p>
          <a:p>
            <a:r>
              <a:rPr lang="en-US" sz="1400" i="1" dirty="0"/>
              <a:t>confidence = (hit &amp;&amp; (</a:t>
            </a:r>
            <a:r>
              <a:rPr lang="en-US" sz="1400" i="1" u="sng" dirty="0"/>
              <a:t>conf</a:t>
            </a:r>
            <a:r>
              <a:rPr lang="en-US" sz="1400" i="1" dirty="0"/>
              <a:t> == </a:t>
            </a:r>
            <a:r>
              <a:rPr lang="en-US" sz="1400" i="1" dirty="0" err="1"/>
              <a:t>conf_max</a:t>
            </a:r>
            <a:r>
              <a:rPr lang="en-US" sz="1400" i="1" dirty="0"/>
              <a:t>))     // hit = (</a:t>
            </a:r>
            <a:r>
              <a:rPr lang="en-US" sz="1400" i="1" u="sng" dirty="0"/>
              <a:t>tag</a:t>
            </a:r>
            <a:r>
              <a:rPr lang="en-US" sz="1400" i="1" dirty="0"/>
              <a:t> == </a:t>
            </a:r>
            <a:r>
              <a:rPr lang="en-US" sz="1400" i="1" dirty="0" err="1"/>
              <a:t>PC</a:t>
            </a:r>
            <a:r>
              <a:rPr lang="en-US" sz="1400" i="1" baseline="-25000" dirty="0" err="1"/>
              <a:t>tag</a:t>
            </a:r>
            <a:r>
              <a:rPr lang="en-US" sz="1400" i="1" dirty="0"/>
              <a:t>)</a:t>
            </a:r>
            <a:br>
              <a:rPr lang="en-US" sz="1400" i="1" dirty="0"/>
            </a:br>
            <a:r>
              <a:rPr lang="en-US" sz="1400" i="1" dirty="0"/>
              <a:t>                                                                                // (always true if no tag) 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C1DB90B-405E-B59D-5713-5A421817BBFF}"/>
              </a:ext>
            </a:extLst>
          </p:cNvPr>
          <p:cNvCxnSpPr/>
          <p:nvPr/>
        </p:nvCxnSpPr>
        <p:spPr>
          <a:xfrm flipH="1">
            <a:off x="5078095" y="1210626"/>
            <a:ext cx="945132" cy="428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2B6ED1B-BAD6-D101-847C-7D972A418065}"/>
              </a:ext>
            </a:extLst>
          </p:cNvPr>
          <p:cNvSpPr txBox="1"/>
          <p:nvPr/>
        </p:nvSpPr>
        <p:spPr>
          <a:xfrm>
            <a:off x="53053" y="23905"/>
            <a:ext cx="949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tag: full,</a:t>
            </a:r>
            <a:br>
              <a:rPr lang="en-US" dirty="0"/>
            </a:br>
            <a:r>
              <a:rPr lang="en-US" dirty="0"/>
              <a:t>partial,</a:t>
            </a:r>
            <a:br>
              <a:rPr lang="en-US" dirty="0"/>
            </a:br>
            <a:r>
              <a:rPr lang="en-US" dirty="0"/>
              <a:t>or none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0B827B-85B8-4973-EDAE-F1AF0DBB43AA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527895" y="947235"/>
            <a:ext cx="1217130" cy="672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0609975A-32A0-3EB7-7F38-E0C76EF1AA7E}"/>
              </a:ext>
            </a:extLst>
          </p:cNvPr>
          <p:cNvSpPr txBox="1"/>
          <p:nvPr/>
        </p:nvSpPr>
        <p:spPr>
          <a:xfrm>
            <a:off x="1333983" y="4631405"/>
            <a:ext cx="2947025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Value Prediction Queue(VPQ)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26C7E3-0A5F-ED64-8851-38C9A5250C98}"/>
              </a:ext>
            </a:extLst>
          </p:cNvPr>
          <p:cNvSpPr txBox="1"/>
          <p:nvPr/>
        </p:nvSpPr>
        <p:spPr>
          <a:xfrm>
            <a:off x="6271812" y="6443100"/>
            <a:ext cx="5848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(in simulator, can record full PC, but true h/w cost depends on # tag bits used)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52951C2-4251-D9E1-DFD1-09D1655BEE12}"/>
              </a:ext>
            </a:extLst>
          </p:cNvPr>
          <p:cNvSpPr txBox="1"/>
          <p:nvPr/>
        </p:nvSpPr>
        <p:spPr>
          <a:xfrm>
            <a:off x="491734" y="2796252"/>
            <a:ext cx="679840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If tag match (or no tags):   // train</a:t>
            </a:r>
          </a:p>
          <a:p>
            <a:r>
              <a:rPr lang="en-US" sz="1200" dirty="0"/>
              <a:t>   </a:t>
            </a:r>
            <a:r>
              <a:rPr lang="en-US" sz="1200" dirty="0" err="1"/>
              <a:t>new_stride</a:t>
            </a:r>
            <a:r>
              <a:rPr lang="en-US" sz="1200" dirty="0"/>
              <a:t> = (value - </a:t>
            </a:r>
            <a:r>
              <a:rPr lang="en-US" sz="1200" u="sng" dirty="0" err="1"/>
              <a:t>retired_value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   if (</a:t>
            </a:r>
            <a:r>
              <a:rPr lang="en-US" sz="1200" dirty="0" err="1"/>
              <a:t>new_stride</a:t>
            </a:r>
            <a:r>
              <a:rPr lang="en-US" sz="1200" dirty="0"/>
              <a:t> == </a:t>
            </a:r>
            <a:r>
              <a:rPr lang="en-US" sz="1200" u="sng" dirty="0"/>
              <a:t>stride</a:t>
            </a:r>
            <a:r>
              <a:rPr lang="en-US" sz="1200" dirty="0"/>
              <a:t>) {</a:t>
            </a:r>
            <a:r>
              <a:rPr lang="en-US" sz="1200" u="sng" dirty="0"/>
              <a:t>conf</a:t>
            </a:r>
            <a:r>
              <a:rPr lang="en-US" sz="1200" dirty="0"/>
              <a:t> += 1 (but saturate)} else {</a:t>
            </a:r>
            <a:r>
              <a:rPr lang="en-US" sz="1200" u="sng" dirty="0"/>
              <a:t>stride</a:t>
            </a:r>
            <a:r>
              <a:rPr lang="en-US" sz="1200" dirty="0"/>
              <a:t> = </a:t>
            </a:r>
            <a:r>
              <a:rPr lang="en-US" sz="1200" dirty="0" err="1"/>
              <a:t>new_stride</a:t>
            </a:r>
            <a:r>
              <a:rPr lang="en-US" sz="1200" dirty="0"/>
              <a:t>; </a:t>
            </a:r>
            <a:r>
              <a:rPr lang="en-US" sz="1200" u="sng" dirty="0"/>
              <a:t>conf</a:t>
            </a:r>
            <a:r>
              <a:rPr lang="en-US" sz="1200" dirty="0"/>
              <a:t> = 0;}</a:t>
            </a:r>
            <a:br>
              <a:rPr lang="en-US" sz="1200" dirty="0"/>
            </a:br>
            <a:r>
              <a:rPr lang="en-US" sz="1200" dirty="0"/>
              <a:t>   </a:t>
            </a:r>
            <a:r>
              <a:rPr lang="en-US" sz="1200" u="sng" dirty="0" err="1"/>
              <a:t>retired_value</a:t>
            </a:r>
            <a:r>
              <a:rPr lang="en-US" sz="1200" dirty="0"/>
              <a:t> = value</a:t>
            </a:r>
            <a:br>
              <a:rPr lang="en-US" sz="1200" dirty="0"/>
            </a:br>
            <a:r>
              <a:rPr lang="en-US" sz="1200" dirty="0"/>
              <a:t>   </a:t>
            </a:r>
            <a:r>
              <a:rPr lang="en-US" sz="1200" u="sng" dirty="0"/>
              <a:t>instance</a:t>
            </a:r>
            <a:r>
              <a:rPr lang="en-US" sz="1200" dirty="0"/>
              <a:t> -= 1</a:t>
            </a:r>
          </a:p>
          <a:p>
            <a:r>
              <a:rPr lang="en-US" sz="1200" dirty="0"/>
              <a:t>Else   // replace</a:t>
            </a:r>
          </a:p>
          <a:p>
            <a:r>
              <a:rPr lang="en-US" sz="1200" dirty="0"/>
              <a:t>    Initialize: </a:t>
            </a:r>
            <a:r>
              <a:rPr lang="en-US" sz="1200" u="sng" dirty="0"/>
              <a:t>tag</a:t>
            </a:r>
            <a:r>
              <a:rPr lang="en-US" sz="1200" dirty="0"/>
              <a:t> = </a:t>
            </a:r>
            <a:r>
              <a:rPr lang="en-US" sz="1200" dirty="0" err="1"/>
              <a:t>PC</a:t>
            </a:r>
            <a:r>
              <a:rPr lang="en-US" sz="1200" baseline="-25000" dirty="0" err="1"/>
              <a:t>tag</a:t>
            </a:r>
            <a:r>
              <a:rPr lang="en-US" sz="1200" dirty="0"/>
              <a:t>; </a:t>
            </a:r>
            <a:r>
              <a:rPr lang="en-US" sz="1200" u="sng" dirty="0"/>
              <a:t>conf</a:t>
            </a:r>
            <a:r>
              <a:rPr lang="en-US" sz="1200" dirty="0"/>
              <a:t> = 0; </a:t>
            </a:r>
            <a:r>
              <a:rPr lang="en-US" sz="1200" u="sng" dirty="0" err="1"/>
              <a:t>retired_value</a:t>
            </a:r>
            <a:r>
              <a:rPr lang="en-US" sz="1200" dirty="0"/>
              <a:t> = </a:t>
            </a:r>
            <a:r>
              <a:rPr lang="en-US" sz="1200" u="sng" dirty="0"/>
              <a:t>stride</a:t>
            </a:r>
            <a:r>
              <a:rPr lang="en-US" sz="1200" dirty="0"/>
              <a:t> = value; </a:t>
            </a:r>
            <a:r>
              <a:rPr lang="en-US" sz="1200" u="sng" dirty="0"/>
              <a:t>instance</a:t>
            </a:r>
            <a:r>
              <a:rPr lang="en-US" sz="1200" dirty="0"/>
              <a:t> = {walk VPQ H to T to determine}; 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80C1A49-39B2-B865-5FFC-ADDEED4DEEF2}"/>
              </a:ext>
            </a:extLst>
          </p:cNvPr>
          <p:cNvCxnSpPr/>
          <p:nvPr/>
        </p:nvCxnSpPr>
        <p:spPr>
          <a:xfrm flipV="1">
            <a:off x="7151195" y="3087165"/>
            <a:ext cx="0" cy="1341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8E56326-145C-DFBB-5CF4-556829CABFB4}"/>
              </a:ext>
            </a:extLst>
          </p:cNvPr>
          <p:cNvCxnSpPr/>
          <p:nvPr/>
        </p:nvCxnSpPr>
        <p:spPr>
          <a:xfrm flipH="1">
            <a:off x="2949919" y="3087165"/>
            <a:ext cx="4201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D785388-A0FE-26A6-B756-D7B8CAB95D77}"/>
              </a:ext>
            </a:extLst>
          </p:cNvPr>
          <p:cNvCxnSpPr>
            <a:endCxn id="8" idx="1"/>
          </p:cNvCxnSpPr>
          <p:nvPr/>
        </p:nvCxnSpPr>
        <p:spPr>
          <a:xfrm flipV="1">
            <a:off x="2949919" y="2875480"/>
            <a:ext cx="1" cy="211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E251CA-934A-4E68-1FD1-6820A6B877E7}"/>
              </a:ext>
            </a:extLst>
          </p:cNvPr>
          <p:cNvSpPr txBox="1"/>
          <p:nvPr/>
        </p:nvSpPr>
        <p:spPr>
          <a:xfrm>
            <a:off x="453233" y="2001466"/>
            <a:ext cx="622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PC</a:t>
            </a:r>
            <a:r>
              <a:rPr lang="en-US" baseline="-25000" dirty="0" err="1"/>
              <a:t>tag</a:t>
            </a:r>
            <a:endParaRPr lang="en-US" baseline="-250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468B6AE-904D-3D0A-32EB-B0DE960D2BF4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1075263" y="1786167"/>
            <a:ext cx="634646" cy="3999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0A4C405-500E-5CB3-502D-CF6F6894F16F}"/>
              </a:ext>
            </a:extLst>
          </p:cNvPr>
          <p:cNvSpPr txBox="1"/>
          <p:nvPr/>
        </p:nvSpPr>
        <p:spPr>
          <a:xfrm>
            <a:off x="919298" y="1816651"/>
            <a:ext cx="484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==?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38E1E0-CE95-AF41-5B58-33EEDEC17113}"/>
              </a:ext>
            </a:extLst>
          </p:cNvPr>
          <p:cNvSpPr txBox="1"/>
          <p:nvPr/>
        </p:nvSpPr>
        <p:spPr>
          <a:xfrm>
            <a:off x="38760" y="6408183"/>
            <a:ext cx="489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PC: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836B6D9D-34B1-5F8D-E9E0-7137CC6CF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3828014"/>
              </p:ext>
            </p:extLst>
          </p:nvPr>
        </p:nvGraphicFramePr>
        <p:xfrm>
          <a:off x="491734" y="6438206"/>
          <a:ext cx="338780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769">
                  <a:extLst>
                    <a:ext uri="{9D8B030D-6E8A-4147-A177-3AD203B41FA5}">
                      <a16:colId xmlns:a16="http://schemas.microsoft.com/office/drawing/2014/main" val="1932685255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2623266500"/>
                    </a:ext>
                  </a:extLst>
                </a:gridCol>
                <a:gridCol w="275208">
                  <a:extLst>
                    <a:ext uri="{9D8B030D-6E8A-4147-A177-3AD203B41FA5}">
                      <a16:colId xmlns:a16="http://schemas.microsoft.com/office/drawing/2014/main" val="3063406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              </a:t>
                      </a:r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PC</a:t>
                      </a:r>
                      <a:r>
                        <a:rPr lang="en-US" sz="1600" b="0" baseline="-25000" dirty="0" err="1">
                          <a:solidFill>
                            <a:schemeClr val="tx1"/>
                          </a:solidFill>
                        </a:rPr>
                        <a:t>tag</a:t>
                      </a:r>
                      <a:endParaRPr lang="en-US" sz="16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solidFill>
                            <a:schemeClr val="tx1"/>
                          </a:solidFill>
                        </a:rPr>
                        <a:t>PC</a:t>
                      </a:r>
                      <a:r>
                        <a:rPr lang="en-US" sz="1600" b="0" baseline="-25000" dirty="0" err="1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en-US" sz="16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00</a:t>
                      </a:r>
                    </a:p>
                  </a:txBody>
                  <a:tcPr marL="0" marR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325669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2D49821-6BEF-71FB-5255-6902809BE6E7}"/>
              </a:ext>
            </a:extLst>
          </p:cNvPr>
          <p:cNvSpPr txBox="1"/>
          <p:nvPr/>
        </p:nvSpPr>
        <p:spPr>
          <a:xfrm>
            <a:off x="3702646" y="620436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D868F5-A82E-0E45-23BF-A0C21565628E}"/>
              </a:ext>
            </a:extLst>
          </p:cNvPr>
          <p:cNvSpPr txBox="1"/>
          <p:nvPr/>
        </p:nvSpPr>
        <p:spPr>
          <a:xfrm>
            <a:off x="3571039" y="620965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48D11D-F562-509C-3B64-83A230EE26E4}"/>
              </a:ext>
            </a:extLst>
          </p:cNvPr>
          <p:cNvSpPr txBox="1"/>
          <p:nvPr/>
        </p:nvSpPr>
        <p:spPr>
          <a:xfrm>
            <a:off x="3394143" y="620436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47F0C5-DF38-02BD-F9E0-7A76EB9D2EEA}"/>
              </a:ext>
            </a:extLst>
          </p:cNvPr>
          <p:cNvSpPr txBox="1"/>
          <p:nvPr/>
        </p:nvSpPr>
        <p:spPr>
          <a:xfrm>
            <a:off x="2460726" y="6209651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D33C21-C97A-82C9-A8ED-4D967855E12B}"/>
              </a:ext>
            </a:extLst>
          </p:cNvPr>
          <p:cNvSpPr txBox="1"/>
          <p:nvPr/>
        </p:nvSpPr>
        <p:spPr>
          <a:xfrm>
            <a:off x="2140161" y="6204362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x+1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B0F358-6A92-C8DF-CA85-A02DD81C3589}"/>
              </a:ext>
            </a:extLst>
          </p:cNvPr>
          <p:cNvSpPr txBox="1"/>
          <p:nvPr/>
        </p:nvSpPr>
        <p:spPr>
          <a:xfrm>
            <a:off x="412326" y="6192739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63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B50BF2-DCB6-8AB2-95AF-51FA620FA438}"/>
              </a:ext>
            </a:extLst>
          </p:cNvPr>
          <p:cNvSpPr txBox="1"/>
          <p:nvPr/>
        </p:nvSpPr>
        <p:spPr>
          <a:xfrm>
            <a:off x="2334696" y="5956632"/>
            <a:ext cx="25278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# SVP entries = 2</a:t>
            </a:r>
            <a:r>
              <a:rPr lang="en-US" sz="1400" i="1" baseline="30000" dirty="0"/>
              <a:t>(# index bits)</a:t>
            </a:r>
            <a:r>
              <a:rPr lang="en-US" sz="1400" i="1" dirty="0"/>
              <a:t> = 2</a:t>
            </a:r>
            <a:r>
              <a:rPr lang="en-US" sz="1400" i="1" baseline="30000" dirty="0"/>
              <a:t>(x-1)</a:t>
            </a:r>
            <a:r>
              <a:rPr lang="en-US" sz="1400" i="1" dirty="0"/>
              <a:t> 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9E6613-00E8-8D68-BC90-5DA2B963FB05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3702646" y="6704529"/>
            <a:ext cx="572078" cy="364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55AD7B4-40DA-0F74-C69C-0C33A2B89B9B}"/>
              </a:ext>
            </a:extLst>
          </p:cNvPr>
          <p:cNvSpPr txBox="1"/>
          <p:nvPr/>
        </p:nvSpPr>
        <p:spPr>
          <a:xfrm>
            <a:off x="4274724" y="6587133"/>
            <a:ext cx="1566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discard (always 00)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35A7B27-B033-F859-0298-2D776A427BBB}"/>
              </a:ext>
            </a:extLst>
          </p:cNvPr>
          <p:cNvCxnSpPr>
            <a:cxnSpLocks/>
          </p:cNvCxnSpPr>
          <p:nvPr/>
        </p:nvCxnSpPr>
        <p:spPr>
          <a:xfrm>
            <a:off x="1161512" y="6438207"/>
            <a:ext cx="0" cy="3708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CA341C6-75B2-ECBC-F09D-B61AA079225F}"/>
              </a:ext>
            </a:extLst>
          </p:cNvPr>
          <p:cNvCxnSpPr/>
          <p:nvPr/>
        </p:nvCxnSpPr>
        <p:spPr>
          <a:xfrm>
            <a:off x="1002737" y="6623626"/>
            <a:ext cx="33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1165A46-CA8F-1605-A96A-FE043D51CCB2}"/>
              </a:ext>
            </a:extLst>
          </p:cNvPr>
          <p:cNvSpPr txBox="1"/>
          <p:nvPr/>
        </p:nvSpPr>
        <p:spPr>
          <a:xfrm>
            <a:off x="828876" y="6050474"/>
            <a:ext cx="101021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depends on </a:t>
            </a:r>
            <a:br>
              <a:rPr lang="en-US" sz="1100" dirty="0"/>
            </a:br>
            <a:r>
              <a:rPr lang="en-US" sz="1100" dirty="0"/>
              <a:t># tag bits used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1D8392-76DC-5D84-CC5C-755623698448}"/>
              </a:ext>
            </a:extLst>
          </p:cNvPr>
          <p:cNvSpPr txBox="1"/>
          <p:nvPr/>
        </p:nvSpPr>
        <p:spPr>
          <a:xfrm>
            <a:off x="2547645" y="3535850"/>
            <a:ext cx="4352880" cy="30777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Use int64_t for </a:t>
            </a:r>
            <a:r>
              <a:rPr lang="en-US" sz="1400" u="sng" dirty="0">
                <a:solidFill>
                  <a:schemeClr val="bg1"/>
                </a:solidFill>
              </a:rPr>
              <a:t>stride</a:t>
            </a:r>
            <a:r>
              <a:rPr lang="en-US" sz="1400" dirty="0">
                <a:solidFill>
                  <a:schemeClr val="bg1"/>
                </a:solidFill>
              </a:rPr>
              <a:t> and </a:t>
            </a:r>
            <a:r>
              <a:rPr lang="en-US" sz="1400" dirty="0" err="1">
                <a:solidFill>
                  <a:schemeClr val="bg1"/>
                </a:solidFill>
              </a:rPr>
              <a:t>new_stride</a:t>
            </a:r>
            <a:r>
              <a:rPr lang="en-US" sz="1400" dirty="0">
                <a:solidFill>
                  <a:schemeClr val="bg1"/>
                </a:solidFill>
              </a:rPr>
              <a:t> (strides are signed).</a:t>
            </a:r>
          </a:p>
        </p:txBody>
      </p:sp>
    </p:spTree>
    <p:extLst>
      <p:ext uri="{BB962C8B-B14F-4D97-AF65-F5344CB8AC3E}">
        <p14:creationId xmlns:p14="http://schemas.microsoft.com/office/powerpoint/2010/main" val="1336458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CDEE2-EBDE-0CA9-6BD9-04E503D6A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C5CED8-0A97-B752-C34B-11B18C273908}"/>
              </a:ext>
            </a:extLst>
          </p:cNvPr>
          <p:cNvSpPr txBox="1"/>
          <p:nvPr/>
        </p:nvSpPr>
        <p:spPr>
          <a:xfrm>
            <a:off x="0" y="772716"/>
            <a:ext cx="12192000" cy="48628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rtl="0"/>
            <a:r>
              <a:rPr lang="en-US" sz="1400" dirty="0">
                <a:effectLst/>
              </a:rPr>
              <a:t>First, add the following #define macros in </a:t>
            </a:r>
            <a:r>
              <a:rPr lang="en-US" sz="1400" dirty="0" err="1">
                <a:effectLst/>
              </a:rPr>
              <a:t>pipeline.h</a:t>
            </a:r>
            <a:r>
              <a:rPr lang="en-US" sz="1400" dirty="0">
                <a:effectLst/>
              </a:rPr>
              <a:t> (below the existing </a:t>
            </a:r>
            <a:r>
              <a:rPr lang="en-US" sz="14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IS_xxx</a:t>
            </a:r>
            <a:r>
              <a:rPr lang="en-US" sz="1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400" dirty="0">
                <a:effectLst/>
              </a:rPr>
              <a:t> macros):</a:t>
            </a:r>
          </a:p>
          <a:p>
            <a:pPr algn="l" rtl="0"/>
            <a:endParaRPr lang="en-US" sz="1400" dirty="0">
              <a:effectLst/>
            </a:endParaRPr>
          </a:p>
          <a:p>
            <a:pPr algn="l" rtl="0"/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IS_INTALU(flags)  ((flags) &amp; (F_ICOMP))    // integer ALU instructions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 IS_FPALU(flags)   ((flags) &amp; (F_FCOMP))    // floating-point ALU instructions</a:t>
            </a:r>
            <a:br>
              <a:rPr lang="en-US" sz="1400" dirty="0">
                <a:effectLst/>
              </a:rPr>
            </a:br>
            <a:endParaRPr lang="en-US" sz="1400" dirty="0">
              <a:effectLst/>
            </a:endParaRPr>
          </a:p>
          <a:p>
            <a:pPr algn="l" rtl="0"/>
            <a:r>
              <a:rPr lang="en-US" sz="1400" dirty="0">
                <a:effectLst/>
              </a:rPr>
              <a:t>Second, here is the eligibility code.</a:t>
            </a:r>
            <a:br>
              <a:rPr lang="en-US" sz="1400" dirty="0">
                <a:effectLst/>
              </a:rPr>
            </a:br>
            <a:endParaRPr lang="en-US" sz="1400" dirty="0">
              <a:effectLst/>
            </a:endParaRPr>
          </a:p>
          <a:p>
            <a:pPr algn="l" rtl="0"/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This function checks value-prediction eligibility.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predINTALU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predFPALU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and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predLOAD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are all "bool" types, 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and are configured to be true or false based on corresponding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simulator arguments being 1 or 0, respectively.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pipeline_t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::eligible(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payload_t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*pay) {</a:t>
            </a:r>
          </a:p>
          <a:p>
            <a:pPr algn="l" rtl="0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if (!pay-&gt;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C_valid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 rtl="0"/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return(false);      // Any instruction without a destination register is ineligible.</a:t>
            </a:r>
          </a:p>
          <a:p>
            <a:pPr algn="l" rtl="0"/>
            <a:endParaRPr lang="en-US" sz="12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 rtl="0"/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// If we reached this point, the instruction has a destination register.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if (IS_INTALU(pay-&gt;flags))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 return(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predINTALU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// instr. is INTALU type.  It is eligible if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predINTALU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configured "true".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else if (IS_FPALU(pay-&gt;flags))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 return(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predFPALU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  // instr. is FPALU type.  It is eligible if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predFPALU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configured "true".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else if (IS_LOAD(pay-&gt;flags) &amp;&amp; !IS_AMO(pay-&gt;flags))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 return(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predLOAD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   // instr. is a normal LOAD (not rare load-with-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reserv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 It is eligible if </a:t>
            </a:r>
            <a:r>
              <a:rPr lang="en-US" sz="120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predLOAD</a:t>
            </a: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configured "true".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 else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     return(false);      // instr. is none of the above major types, so it is never eligible</a:t>
            </a:r>
            <a:b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16403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629</Words>
  <Application>Microsoft Office PowerPoint</Application>
  <PresentationFormat>Widescreen</PresentationFormat>
  <Paragraphs>52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Office Theme</vt:lpstr>
      <vt:lpstr>ECE 721 Project 4 figures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Rotenberg</dc:creator>
  <cp:lastModifiedBy>Eric Rotenberg</cp:lastModifiedBy>
  <cp:revision>30</cp:revision>
  <dcterms:created xsi:type="dcterms:W3CDTF">2024-03-11T20:12:43Z</dcterms:created>
  <dcterms:modified xsi:type="dcterms:W3CDTF">2025-03-08T18:09:32Z</dcterms:modified>
</cp:coreProperties>
</file>